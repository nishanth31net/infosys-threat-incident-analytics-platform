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arlow Bold" charset="1" panose="00000800000000000000"/>
      <p:regular r:id="rId14"/>
    </p:embeddedFont>
    <p:embeddedFont>
      <p:font typeface="Barlow" charset="1" panose="00000500000000000000"/>
      <p:regular r:id="rId15"/>
    </p:embeddedFont>
    <p:embeddedFont>
      <p:font typeface="Barlow Medium" charset="1" panose="000006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15" Target="../media/image30.png" Type="http://schemas.openxmlformats.org/officeDocument/2006/relationships/image"/><Relationship Id="rId16" Target="../media/image31.png" Type="http://schemas.openxmlformats.org/officeDocument/2006/relationships/image"/><Relationship Id="rId17" Target="../media/image32.png" Type="http://schemas.openxmlformats.org/officeDocument/2006/relationships/image"/><Relationship Id="rId18" Target="../media/image33.png" Type="http://schemas.openxmlformats.org/officeDocument/2006/relationships/image"/><Relationship Id="rId19" Target="../media/image34.png" Type="http://schemas.openxmlformats.org/officeDocument/2006/relationships/image"/><Relationship Id="rId2" Target="../media/image17.png" Type="http://schemas.openxmlformats.org/officeDocument/2006/relationships/image"/><Relationship Id="rId20" Target="../media/image35.png" Type="http://schemas.openxmlformats.org/officeDocument/2006/relationships/image"/><Relationship Id="rId21" Target="../media/image36.png" Type="http://schemas.openxmlformats.org/officeDocument/2006/relationships/image"/><Relationship Id="rId22" Target="../media/image37.png" Type="http://schemas.openxmlformats.org/officeDocument/2006/relationships/image"/><Relationship Id="rId23" Target="../media/image38.png" Type="http://schemas.openxmlformats.org/officeDocument/2006/relationships/image"/><Relationship Id="rId24" Target="../media/image39.png" Type="http://schemas.openxmlformats.org/officeDocument/2006/relationships/image"/><Relationship Id="rId25" Target="../media/image40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0976" y="970338"/>
            <a:ext cx="9052560" cy="295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2"/>
              </a:lnSpc>
            </a:pPr>
            <a:r>
              <a:rPr lang="en-US" sz="8044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THREAT CLASSIFICATION &amp; PREDICTIVE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0976" y="3905925"/>
            <a:ext cx="7004304" cy="197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7973" b="true">
                <a:solidFill>
                  <a:srgbClr val="FBC144"/>
                </a:solidFill>
                <a:latin typeface="Barlow Bold"/>
                <a:ea typeface="Barlow Bold"/>
                <a:cs typeface="Barlow Bold"/>
                <a:sym typeface="Barlow Bold"/>
              </a:rPr>
              <a:t>INTELLIGENCE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6775" y="6000750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0976" y="6581094"/>
            <a:ext cx="5230368" cy="59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347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Using Microsoft Power BI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0976" y="7791204"/>
            <a:ext cx="4078224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Nishanth 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715375" cy="10287000"/>
          </a:xfrm>
          <a:custGeom>
            <a:avLst/>
            <a:gdLst/>
            <a:ahLst/>
            <a:cxnLst/>
            <a:rect r="r" b="b" t="t" l="l"/>
            <a:pathLst>
              <a:path h="10287000" w="8715375">
                <a:moveTo>
                  <a:pt x="0" y="0"/>
                </a:moveTo>
                <a:lnTo>
                  <a:pt x="8715375" y="0"/>
                </a:lnTo>
                <a:lnTo>
                  <a:pt x="8715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9808" y="1275698"/>
            <a:ext cx="5266944" cy="208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1"/>
              </a:lnSpc>
            </a:pPr>
            <a:r>
              <a:rPr lang="en-US" b="true" sz="8824" spc="-176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PROJECT 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3429000"/>
            <a:ext cx="1314450" cy="428625"/>
          </a:xfrm>
          <a:custGeom>
            <a:avLst/>
            <a:gdLst/>
            <a:ahLst/>
            <a:cxnLst/>
            <a:rect r="r" b="b" t="t" l="l"/>
            <a:pathLst>
              <a:path h="428625" w="1314450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9808" y="4393714"/>
            <a:ext cx="4901184" cy="32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1"/>
              </a:lnSpc>
            </a:pPr>
            <a:r>
              <a:rPr lang="en-US" sz="5846" spc="-116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Transform incident data into </a:t>
            </a:r>
            <a:r>
              <a:rPr lang="en-US" sz="5846" spc="-116" b="true">
                <a:solidFill>
                  <a:srgbClr val="FFBD59"/>
                </a:solidFill>
                <a:latin typeface="Barlow Medium"/>
                <a:ea typeface="Barlow Medium"/>
                <a:cs typeface="Barlow Medium"/>
                <a:sym typeface="Barlow Medium"/>
              </a:rPr>
              <a:t>actionable intelligence.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44000" y="428625"/>
            <a:ext cx="8277225" cy="1285875"/>
          </a:xfrm>
          <a:custGeom>
            <a:avLst/>
            <a:gdLst/>
            <a:ahLst/>
            <a:cxnLst/>
            <a:rect r="r" b="b" t="t" l="l"/>
            <a:pathLst>
              <a:path h="1285875" w="8277225">
                <a:moveTo>
                  <a:pt x="0" y="0"/>
                </a:moveTo>
                <a:lnTo>
                  <a:pt x="8277225" y="0"/>
                </a:lnTo>
                <a:lnTo>
                  <a:pt x="8277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24944" y="771804"/>
            <a:ext cx="2176272" cy="42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0"/>
              </a:lnSpc>
            </a:pPr>
            <a:r>
              <a:rPr lang="en-US" b="true" sz="3045" spc="-6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Incident Data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839700" y="128587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1924050"/>
            <a:ext cx="8277225" cy="1295400"/>
          </a:xfrm>
          <a:custGeom>
            <a:avLst/>
            <a:gdLst/>
            <a:ahLst/>
            <a:cxnLst/>
            <a:rect r="r" b="b" t="t" l="l"/>
            <a:pathLst>
              <a:path h="1295400" w="8277225">
                <a:moveTo>
                  <a:pt x="0" y="0"/>
                </a:moveTo>
                <a:lnTo>
                  <a:pt x="8277225" y="0"/>
                </a:lnTo>
                <a:lnTo>
                  <a:pt x="8277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923776" y="2330441"/>
            <a:ext cx="2596896" cy="43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</a:pPr>
            <a:r>
              <a:rPr lang="en-US" b="true" sz="3081" spc="-6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Threat Analysis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839700" y="30003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3429000"/>
            <a:ext cx="8277225" cy="1285875"/>
          </a:xfrm>
          <a:custGeom>
            <a:avLst/>
            <a:gdLst/>
            <a:ahLst/>
            <a:cxnLst/>
            <a:rect r="r" b="b" t="t" l="l"/>
            <a:pathLst>
              <a:path h="1285875" w="8277225">
                <a:moveTo>
                  <a:pt x="0" y="0"/>
                </a:moveTo>
                <a:lnTo>
                  <a:pt x="8277225" y="0"/>
                </a:lnTo>
                <a:lnTo>
                  <a:pt x="8277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552176" y="3893840"/>
            <a:ext cx="5303520" cy="43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b="true" sz="3116" spc="-62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Geospatial &amp; Temporal Analysis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839700" y="4495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4924425"/>
            <a:ext cx="8277225" cy="1295400"/>
          </a:xfrm>
          <a:custGeom>
            <a:avLst/>
            <a:gdLst/>
            <a:ahLst/>
            <a:cxnLst/>
            <a:rect r="r" b="b" t="t" l="l"/>
            <a:pathLst>
              <a:path h="1295400" w="8277225">
                <a:moveTo>
                  <a:pt x="0" y="0"/>
                </a:moveTo>
                <a:lnTo>
                  <a:pt x="8277225" y="0"/>
                </a:lnTo>
                <a:lnTo>
                  <a:pt x="8277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777472" y="5406254"/>
            <a:ext cx="2889504" cy="43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</a:pPr>
            <a:r>
              <a:rPr lang="en-US" b="true" sz="3081" spc="-6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Risk Assessment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839700" y="6000750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44000" y="6638925"/>
            <a:ext cx="8277225" cy="1295400"/>
          </a:xfrm>
          <a:custGeom>
            <a:avLst/>
            <a:gdLst/>
            <a:ahLst/>
            <a:cxnLst/>
            <a:rect r="r" b="b" t="t" l="l"/>
            <a:pathLst>
              <a:path h="1295400" w="8277225">
                <a:moveTo>
                  <a:pt x="0" y="0"/>
                </a:moveTo>
                <a:lnTo>
                  <a:pt x="8277225" y="0"/>
                </a:lnTo>
                <a:lnTo>
                  <a:pt x="8277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301984" y="6995526"/>
            <a:ext cx="3840480" cy="44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3152" spc="-6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Predictive Intelligence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839700" y="77152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44000" y="8143875"/>
            <a:ext cx="8277225" cy="1285875"/>
          </a:xfrm>
          <a:custGeom>
            <a:avLst/>
            <a:gdLst/>
            <a:ahLst/>
            <a:cxnLst/>
            <a:rect r="r" b="b" t="t" l="l"/>
            <a:pathLst>
              <a:path h="1285875" w="8277225">
                <a:moveTo>
                  <a:pt x="0" y="0"/>
                </a:moveTo>
                <a:lnTo>
                  <a:pt x="8277225" y="0"/>
                </a:lnTo>
                <a:lnTo>
                  <a:pt x="8277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899648" y="8584712"/>
            <a:ext cx="4663440" cy="43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b="true" sz="3116" spc="-62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Executive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4672" y="927479"/>
            <a:ext cx="6656832" cy="259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1"/>
              </a:lnSpc>
            </a:pPr>
            <a:r>
              <a:rPr lang="en-US" sz="7512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DATA &amp; DASHBOARD ARCHITECTURE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3429000"/>
            <a:ext cx="1314450" cy="428625"/>
          </a:xfrm>
          <a:custGeom>
            <a:avLst/>
            <a:gdLst/>
            <a:ahLst/>
            <a:cxnLst/>
            <a:rect r="r" b="b" t="t" l="l"/>
            <a:pathLst>
              <a:path h="428625" w="1314450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4286250"/>
            <a:ext cx="3276600" cy="857250"/>
          </a:xfrm>
          <a:custGeom>
            <a:avLst/>
            <a:gdLst/>
            <a:ahLst/>
            <a:cxnLst/>
            <a:rect r="r" b="b" t="t" l="l"/>
            <a:pathLst>
              <a:path h="857250" w="3276600">
                <a:moveTo>
                  <a:pt x="0" y="0"/>
                </a:moveTo>
                <a:lnTo>
                  <a:pt x="3276600" y="0"/>
                </a:lnTo>
                <a:lnTo>
                  <a:pt x="3276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3312" y="4497689"/>
            <a:ext cx="2048256" cy="34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b="true" sz="2372">
                <a:solidFill>
                  <a:srgbClr val="E1A72B"/>
                </a:solidFill>
                <a:latin typeface="Barlow Bold"/>
                <a:ea typeface="Barlow Bold"/>
                <a:cs typeface="Barlow Bold"/>
                <a:sym typeface="Barlow Bold"/>
              </a:rPr>
              <a:t>DATA SOURCES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5143500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9072" y="5474071"/>
            <a:ext cx="1225296" cy="38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69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Incident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6210300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00784" y="6630666"/>
            <a:ext cx="1280160" cy="36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6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Location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7286625"/>
            <a:ext cx="3276600" cy="1285875"/>
          </a:xfrm>
          <a:custGeom>
            <a:avLst/>
            <a:gdLst/>
            <a:ahLst/>
            <a:cxnLst/>
            <a:rect r="r" b="b" t="t" l="l"/>
            <a:pathLst>
              <a:path h="1285875" w="3276600">
                <a:moveTo>
                  <a:pt x="0" y="0"/>
                </a:moveTo>
                <a:lnTo>
                  <a:pt x="3276600" y="0"/>
                </a:lnTo>
                <a:lnTo>
                  <a:pt x="3276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09344" y="7767085"/>
            <a:ext cx="1481328" cy="37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726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Response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695700" y="5353050"/>
            <a:ext cx="876300" cy="2581275"/>
          </a:xfrm>
          <a:custGeom>
            <a:avLst/>
            <a:gdLst/>
            <a:ahLst/>
            <a:cxnLst/>
            <a:rect r="r" b="b" t="t" l="l"/>
            <a:pathLst>
              <a:path h="2581275" w="876300">
                <a:moveTo>
                  <a:pt x="0" y="0"/>
                </a:moveTo>
                <a:lnTo>
                  <a:pt x="876300" y="0"/>
                </a:lnTo>
                <a:lnTo>
                  <a:pt x="876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5700" y="6429375"/>
            <a:ext cx="1533525" cy="428625"/>
          </a:xfrm>
          <a:custGeom>
            <a:avLst/>
            <a:gdLst/>
            <a:ahLst/>
            <a:cxnLst/>
            <a:rect r="r" b="b" t="t" l="l"/>
            <a:pathLst>
              <a:path h="428625" w="1533525">
                <a:moveTo>
                  <a:pt x="0" y="0"/>
                </a:moveTo>
                <a:lnTo>
                  <a:pt x="1533525" y="0"/>
                </a:lnTo>
                <a:lnTo>
                  <a:pt x="1533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00625" y="4495800"/>
            <a:ext cx="3495675" cy="4076700"/>
          </a:xfrm>
          <a:custGeom>
            <a:avLst/>
            <a:gdLst/>
            <a:ahLst/>
            <a:cxnLst/>
            <a:rect r="r" b="b" t="t" l="l"/>
            <a:pathLst>
              <a:path h="4076700" w="3495675">
                <a:moveTo>
                  <a:pt x="0" y="0"/>
                </a:moveTo>
                <a:lnTo>
                  <a:pt x="3495675" y="0"/>
                </a:lnTo>
                <a:lnTo>
                  <a:pt x="34956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815584" y="5771352"/>
            <a:ext cx="2011680" cy="44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3648">
                <a:solidFill>
                  <a:srgbClr val="E1A72B"/>
                </a:solidFill>
                <a:latin typeface="Barlow Bold"/>
                <a:ea typeface="Barlow Bold"/>
                <a:cs typeface="Barlow Bold"/>
                <a:sym typeface="Barlow Bold"/>
              </a:rPr>
              <a:t>POWER BI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80176" y="6355740"/>
            <a:ext cx="1682496" cy="126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266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Transforming raw data into actionable intelligence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267700" y="6429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44000" y="3209925"/>
            <a:ext cx="8496300" cy="1076325"/>
          </a:xfrm>
          <a:custGeom>
            <a:avLst/>
            <a:gdLst/>
            <a:ahLst/>
            <a:cxnLst/>
            <a:rect r="r" b="b" t="t" l="l"/>
            <a:pathLst>
              <a:path h="1076325" w="8496300">
                <a:moveTo>
                  <a:pt x="0" y="0"/>
                </a:moveTo>
                <a:lnTo>
                  <a:pt x="8496300" y="0"/>
                </a:lnTo>
                <a:lnTo>
                  <a:pt x="849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887200" y="3617320"/>
            <a:ext cx="2761488" cy="34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2443">
                <a:solidFill>
                  <a:srgbClr val="E1A72B"/>
                </a:solidFill>
                <a:latin typeface="Barlow Bold"/>
                <a:ea typeface="Barlow Bold"/>
                <a:cs typeface="Barlow Bold"/>
                <a:sym typeface="Barlow Bold"/>
              </a:rPr>
              <a:t>POWER BI PROCESS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144000" y="4286250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637776" y="4836191"/>
            <a:ext cx="804672" cy="36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58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Clean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668000" y="4714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096625" y="4286250"/>
            <a:ext cx="2190750" cy="1504950"/>
          </a:xfrm>
          <a:custGeom>
            <a:avLst/>
            <a:gdLst/>
            <a:ahLst/>
            <a:cxnLst/>
            <a:rect r="r" b="b" t="t" l="l"/>
            <a:pathLst>
              <a:path h="1504950" w="2190750">
                <a:moveTo>
                  <a:pt x="0" y="0"/>
                </a:moveTo>
                <a:lnTo>
                  <a:pt x="2190750" y="0"/>
                </a:lnTo>
                <a:lnTo>
                  <a:pt x="2190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558016" y="4846616"/>
            <a:ext cx="1133856" cy="34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443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Connect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058775" y="47148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277850" y="4286250"/>
            <a:ext cx="2181225" cy="1504950"/>
          </a:xfrm>
          <a:custGeom>
            <a:avLst/>
            <a:gdLst/>
            <a:ahLst/>
            <a:cxnLst/>
            <a:rect r="r" b="b" t="t" l="l"/>
            <a:pathLst>
              <a:path h="1504950" w="2181225">
                <a:moveTo>
                  <a:pt x="0" y="0"/>
                </a:moveTo>
                <a:lnTo>
                  <a:pt x="2181225" y="0"/>
                </a:lnTo>
                <a:lnTo>
                  <a:pt x="218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240000" y="471487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449550" y="4286250"/>
            <a:ext cx="2190750" cy="1504950"/>
          </a:xfrm>
          <a:custGeom>
            <a:avLst/>
            <a:gdLst/>
            <a:ahLst/>
            <a:cxnLst/>
            <a:rect r="r" b="b" t="t" l="l"/>
            <a:pathLst>
              <a:path h="1504950" w="2190750">
                <a:moveTo>
                  <a:pt x="0" y="0"/>
                </a:moveTo>
                <a:lnTo>
                  <a:pt x="2190750" y="0"/>
                </a:lnTo>
                <a:lnTo>
                  <a:pt x="2190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965424" y="4836416"/>
            <a:ext cx="1243584" cy="36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54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Visualize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144000" y="6210300"/>
            <a:ext cx="8496300" cy="866775"/>
          </a:xfrm>
          <a:custGeom>
            <a:avLst/>
            <a:gdLst/>
            <a:ahLst/>
            <a:cxnLst/>
            <a:rect r="r" b="b" t="t" l="l"/>
            <a:pathLst>
              <a:path h="866775" w="8496300">
                <a:moveTo>
                  <a:pt x="0" y="0"/>
                </a:moveTo>
                <a:lnTo>
                  <a:pt x="8496300" y="0"/>
                </a:lnTo>
                <a:lnTo>
                  <a:pt x="849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996928" y="6446245"/>
            <a:ext cx="2596896" cy="34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2443">
                <a:solidFill>
                  <a:srgbClr val="E1A72B"/>
                </a:solidFill>
                <a:latin typeface="Barlow Bold"/>
                <a:ea typeface="Barlow Bold"/>
                <a:cs typeface="Barlow Bold"/>
                <a:sym typeface="Barlow Bold"/>
              </a:rPr>
              <a:t>KEY COMPONENTS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144000" y="7067550"/>
            <a:ext cx="1743075" cy="1724025"/>
          </a:xfrm>
          <a:custGeom>
            <a:avLst/>
            <a:gdLst/>
            <a:ahLst/>
            <a:cxnLst/>
            <a:rect r="r" b="b" t="t" l="l"/>
            <a:pathLst>
              <a:path h="1724025" w="1743075">
                <a:moveTo>
                  <a:pt x="0" y="0"/>
                </a:moveTo>
                <a:lnTo>
                  <a:pt x="1743075" y="0"/>
                </a:lnTo>
                <a:lnTo>
                  <a:pt x="1743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18320" y="7788923"/>
            <a:ext cx="1170432" cy="3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24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Power BI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877550" y="7067550"/>
            <a:ext cx="1533525" cy="1724025"/>
          </a:xfrm>
          <a:custGeom>
            <a:avLst/>
            <a:gdLst/>
            <a:ahLst/>
            <a:cxnLst/>
            <a:rect r="r" b="b" t="t" l="l"/>
            <a:pathLst>
              <a:path h="1724025" w="1533525">
                <a:moveTo>
                  <a:pt x="0" y="0"/>
                </a:moveTo>
                <a:lnTo>
                  <a:pt x="1533525" y="0"/>
                </a:lnTo>
                <a:lnTo>
                  <a:pt x="1533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375136" y="7774186"/>
            <a:ext cx="566928" cy="36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6"/>
              </a:lnSpc>
            </a:pPr>
            <a:r>
              <a:rPr lang="en-US" sz="2478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DAX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2401550" y="7067550"/>
            <a:ext cx="1971675" cy="1724025"/>
          </a:xfrm>
          <a:custGeom>
            <a:avLst/>
            <a:gdLst/>
            <a:ahLst/>
            <a:cxnLst/>
            <a:rect r="r" b="b" t="t" l="l"/>
            <a:pathLst>
              <a:path h="1724025" w="1971675">
                <a:moveTo>
                  <a:pt x="0" y="0"/>
                </a:moveTo>
                <a:lnTo>
                  <a:pt x="1971675" y="0"/>
                </a:lnTo>
                <a:lnTo>
                  <a:pt x="1971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728448" y="7701277"/>
            <a:ext cx="1444752" cy="57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219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Interactive Dashboards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363700" y="7067550"/>
            <a:ext cx="1752600" cy="1724025"/>
          </a:xfrm>
          <a:custGeom>
            <a:avLst/>
            <a:gdLst/>
            <a:ahLst/>
            <a:cxnLst/>
            <a:rect r="r" b="b" t="t" l="l"/>
            <a:pathLst>
              <a:path h="1724025" w="1752600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4813280" y="7690402"/>
            <a:ext cx="731520" cy="59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230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KPI Cards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5887700" y="7067550"/>
            <a:ext cx="1752600" cy="1724025"/>
          </a:xfrm>
          <a:custGeom>
            <a:avLst/>
            <a:gdLst/>
            <a:ahLst/>
            <a:cxnLst/>
            <a:rect r="r" b="b" t="t" l="l"/>
            <a:pathLst>
              <a:path h="1724025" w="1752600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6239744" y="7647349"/>
            <a:ext cx="1133856" cy="68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1"/>
              </a:lnSpc>
            </a:pPr>
            <a:r>
              <a:rPr lang="en-US" sz="269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Charts &amp; Maps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825728" y="4832104"/>
            <a:ext cx="1060704" cy="36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6"/>
              </a:lnSpc>
            </a:pPr>
            <a:r>
              <a:rPr lang="en-US" sz="2478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Analyze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9808" y="699583"/>
            <a:ext cx="6839712" cy="112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spc="-254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Milestone 1 &amp;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8096" y="1810702"/>
            <a:ext cx="916228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78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Threat &amp; Geospatial Intelligence: Summary of first two milestones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2571750"/>
            <a:ext cx="5238750" cy="6429375"/>
          </a:xfrm>
          <a:custGeom>
            <a:avLst/>
            <a:gdLst/>
            <a:ahLst/>
            <a:cxnLst/>
            <a:rect r="r" b="b" t="t" l="l"/>
            <a:pathLst>
              <a:path h="6429375" w="5238750">
                <a:moveTo>
                  <a:pt x="0" y="0"/>
                </a:moveTo>
                <a:lnTo>
                  <a:pt x="5238750" y="0"/>
                </a:lnTo>
                <a:lnTo>
                  <a:pt x="52387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8448" y="3072316"/>
            <a:ext cx="1554480" cy="31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3"/>
              </a:lnSpc>
            </a:pPr>
            <a:r>
              <a:rPr lang="en-US" b="true" sz="2230" spc="-66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MILESTONE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8448" y="3605891"/>
            <a:ext cx="3584448" cy="11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3"/>
              </a:lnSpc>
            </a:pPr>
            <a:r>
              <a:rPr lang="en-US" sz="4003" spc="-120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Incident &amp; Threat Analysis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5850" y="4924425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98448" y="5446776"/>
            <a:ext cx="22677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spc="-76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Incident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8448" y="6166866"/>
            <a:ext cx="294436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514" spc="-75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Severity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8448" y="6876669"/>
            <a:ext cx="21031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spc="-76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KPI dashboards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8448" y="7572185"/>
            <a:ext cx="270662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 spc="-77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Basic trend analysis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43700" y="2571750"/>
            <a:ext cx="5019675" cy="6429375"/>
          </a:xfrm>
          <a:custGeom>
            <a:avLst/>
            <a:gdLst/>
            <a:ahLst/>
            <a:cxnLst/>
            <a:rect r="r" b="b" t="t" l="l"/>
            <a:pathLst>
              <a:path h="6429375" w="5019675">
                <a:moveTo>
                  <a:pt x="0" y="0"/>
                </a:moveTo>
                <a:lnTo>
                  <a:pt x="5019675" y="0"/>
                </a:lnTo>
                <a:lnTo>
                  <a:pt x="5019675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370064" y="3063016"/>
            <a:ext cx="1554480" cy="32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b="true" sz="2195" spc="-65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MILESTONE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70064" y="3596591"/>
            <a:ext cx="2450592" cy="112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4"/>
              </a:lnSpc>
            </a:pPr>
            <a:r>
              <a:rPr lang="en-US" sz="3967" spc="-119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Geospatial Intelligence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181850" y="4924425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370064" y="5446776"/>
            <a:ext cx="270662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spc="-76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Geographic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70064" y="6166866"/>
            <a:ext cx="18470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spc="-76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City-wise risk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70064" y="6871907"/>
            <a:ext cx="221284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spc="-74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Interactive maps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70064" y="7586472"/>
            <a:ext cx="28712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spc="-76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Drill-through analysis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657850" y="514350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472416" y="2819939"/>
            <a:ext cx="1755648" cy="36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b="true" sz="2585" spc="-77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KEY INSIGHT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2416" y="3438322"/>
            <a:ext cx="4224528" cy="330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</a:pPr>
            <a:r>
              <a:rPr lang="en-US" sz="5881" spc="-176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Accident is the most common </a:t>
            </a:r>
            <a:r>
              <a:rPr lang="en-US" sz="5881" spc="-176" b="true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incident type.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72416" y="6906209"/>
            <a:ext cx="4242816" cy="104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5" spc="-91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Medium severity incidents are the </a:t>
            </a:r>
            <a:r>
              <a:rPr lang="en-US" sz="3045" spc="-91" b="true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most frequent</a:t>
            </a:r>
            <a:r>
              <a:rPr lang="en-US" sz="3045" spc="-91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520" y="1190000"/>
            <a:ext cx="5870448" cy="117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4"/>
              </a:lnSpc>
            </a:pPr>
            <a:r>
              <a:rPr lang="en-US" sz="8824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Milestone 3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352675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2781300"/>
            <a:ext cx="5448300" cy="5153025"/>
          </a:xfrm>
          <a:custGeom>
            <a:avLst/>
            <a:gdLst/>
            <a:ahLst/>
            <a:cxnLst/>
            <a:rect r="r" b="b" t="t" l="l"/>
            <a:pathLst>
              <a:path h="5153025" w="5448300">
                <a:moveTo>
                  <a:pt x="0" y="0"/>
                </a:moveTo>
                <a:lnTo>
                  <a:pt x="5448300" y="0"/>
                </a:lnTo>
                <a:lnTo>
                  <a:pt x="5448300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36" y="3445257"/>
            <a:ext cx="2523744" cy="96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3613" b="true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TEMPORAL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6736" y="4787400"/>
            <a:ext cx="2212848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Monthly trends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6736" y="5456055"/>
            <a:ext cx="2688336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Seasonal patterns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6736" y="6104448"/>
            <a:ext cx="3127248" cy="44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Daily &amp; weekly trends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736" y="6762816"/>
            <a:ext cx="2523744" cy="44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Emerging threats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096000" y="2781300"/>
            <a:ext cx="5448300" cy="5153025"/>
          </a:xfrm>
          <a:custGeom>
            <a:avLst/>
            <a:gdLst/>
            <a:ahLst/>
            <a:cxnLst/>
            <a:rect r="r" b="b" t="t" l="l"/>
            <a:pathLst>
              <a:path h="5153025" w="5448300">
                <a:moveTo>
                  <a:pt x="0" y="0"/>
                </a:moveTo>
                <a:lnTo>
                  <a:pt x="5448300" y="0"/>
                </a:lnTo>
                <a:lnTo>
                  <a:pt x="5448300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03136" y="3445257"/>
            <a:ext cx="2523744" cy="96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3613" b="true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RESPONSE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03136" y="4787400"/>
            <a:ext cx="2212848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Response time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03136" y="5446080"/>
            <a:ext cx="3566160" cy="44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Resolution performance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03136" y="6114423"/>
            <a:ext cx="2651760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Team comparison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03136" y="6772791"/>
            <a:ext cx="2432304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City comparison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7700" y="7924800"/>
            <a:ext cx="228600" cy="1724025"/>
          </a:xfrm>
          <a:custGeom>
            <a:avLst/>
            <a:gdLst/>
            <a:ahLst/>
            <a:cxnLst/>
            <a:rect r="r" b="b" t="t" l="l"/>
            <a:pathLst>
              <a:path h="1724025" w="228600">
                <a:moveTo>
                  <a:pt x="0" y="0"/>
                </a:moveTo>
                <a:lnTo>
                  <a:pt x="228600" y="0"/>
                </a:lnTo>
                <a:lnTo>
                  <a:pt x="228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07008" y="8068953"/>
            <a:ext cx="2029968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true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KEY INSIGHT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7008" y="8569780"/>
            <a:ext cx="8010144" cy="10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223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Incident activity and response performance vary across time, location and severity.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645795"/>
            <a:ext cx="555955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413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MILESTONE 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1714500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4944" y="2290001"/>
            <a:ext cx="7790688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5"/>
              </a:lnSpc>
            </a:pPr>
            <a:r>
              <a:rPr lang="en-US" sz="5988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Security Risk &amp; Predictive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4489077"/>
            <a:ext cx="7607808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Assess today’s risk. Anticipate tomorrow’s threats.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944" y="5024001"/>
            <a:ext cx="9710928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true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Move from historical analysis to proactive risk management.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7700" y="6000750"/>
            <a:ext cx="16554450" cy="3857625"/>
          </a:xfrm>
          <a:custGeom>
            <a:avLst/>
            <a:gdLst/>
            <a:ahLst/>
            <a:cxnLst/>
            <a:rect r="r" b="b" t="t" l="l"/>
            <a:pathLst>
              <a:path h="3857625" w="16554450">
                <a:moveTo>
                  <a:pt x="0" y="0"/>
                </a:moveTo>
                <a:lnTo>
                  <a:pt x="16554450" y="0"/>
                </a:lnTo>
                <a:lnTo>
                  <a:pt x="1655445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3584" y="6461705"/>
            <a:ext cx="2542032" cy="38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RISK ASSESSMENT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5850" y="6858000"/>
            <a:ext cx="7191375" cy="219075"/>
          </a:xfrm>
          <a:custGeom>
            <a:avLst/>
            <a:gdLst/>
            <a:ahLst/>
            <a:cxnLst/>
            <a:rect r="r" b="b" t="t" l="l"/>
            <a:pathLst>
              <a:path h="219075" w="7191375">
                <a:moveTo>
                  <a:pt x="0" y="0"/>
                </a:moveTo>
                <a:lnTo>
                  <a:pt x="7191375" y="0"/>
                </a:lnTo>
                <a:lnTo>
                  <a:pt x="7191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3584" y="7329207"/>
            <a:ext cx="2194560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Threat Exposure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3584" y="7864131"/>
            <a:ext cx="3273552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Operational Vulnerability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3584" y="8409342"/>
            <a:ext cx="2194560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Risk by Location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3584" y="8944266"/>
            <a:ext cx="2048256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Resource Gaps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705850" y="6429375"/>
            <a:ext cx="228600" cy="3000375"/>
          </a:xfrm>
          <a:custGeom>
            <a:avLst/>
            <a:gdLst/>
            <a:ahLst/>
            <a:cxnLst/>
            <a:rect r="r" b="b" t="t" l="l"/>
            <a:pathLst>
              <a:path h="3000375" w="228600">
                <a:moveTo>
                  <a:pt x="0" y="0"/>
                </a:moveTo>
                <a:lnTo>
                  <a:pt x="228600" y="0"/>
                </a:lnTo>
                <a:lnTo>
                  <a:pt x="228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09760" y="6461705"/>
            <a:ext cx="2962656" cy="38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PREDICTIVE ANALYSIS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353550" y="6858000"/>
            <a:ext cx="7200900" cy="219075"/>
          </a:xfrm>
          <a:custGeom>
            <a:avLst/>
            <a:gdLst/>
            <a:ahLst/>
            <a:cxnLst/>
            <a:rect r="r" b="b" t="t" l="l"/>
            <a:pathLst>
              <a:path h="219075" w="7200900">
                <a:moveTo>
                  <a:pt x="0" y="0"/>
                </a:moveTo>
                <a:lnTo>
                  <a:pt x="7200900" y="0"/>
                </a:lnTo>
                <a:lnTo>
                  <a:pt x="7200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509760" y="7329207"/>
            <a:ext cx="2029968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Risk Prediction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09760" y="7864131"/>
            <a:ext cx="2340864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Incident Forecast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9760" y="8409342"/>
            <a:ext cx="1938528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Emerging Risk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09760" y="8944266"/>
            <a:ext cx="2212848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High-Risk Zones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6384" y="1044305"/>
            <a:ext cx="6327648" cy="206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3"/>
              </a:lnSpc>
            </a:pPr>
            <a:r>
              <a:rPr lang="en-US" sz="8434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EXECUTIVE</a:t>
            </a:r>
          </a:p>
          <a:p>
            <a:pPr algn="l">
              <a:lnSpc>
                <a:spcPts val="7843"/>
              </a:lnSpc>
            </a:pPr>
            <a:r>
              <a:rPr lang="en-US" sz="8434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DASHBOARD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3209925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384" y="3968344"/>
            <a:ext cx="5102352" cy="110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9"/>
              </a:lnSpc>
            </a:pPr>
            <a:r>
              <a:rPr lang="en-US" sz="371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One view. Clear insight. Better decisions.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962775" y="638175"/>
            <a:ext cx="9801225" cy="5581650"/>
          </a:xfrm>
          <a:custGeom>
            <a:avLst/>
            <a:gdLst/>
            <a:ahLst/>
            <a:cxnLst/>
            <a:rect r="r" b="b" t="t" l="l"/>
            <a:pathLst>
              <a:path h="5581650" w="9801225">
                <a:moveTo>
                  <a:pt x="0" y="0"/>
                </a:moveTo>
                <a:lnTo>
                  <a:pt x="9801225" y="0"/>
                </a:lnTo>
                <a:lnTo>
                  <a:pt x="9801225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6000750"/>
            <a:ext cx="16992600" cy="1933575"/>
          </a:xfrm>
          <a:custGeom>
            <a:avLst/>
            <a:gdLst/>
            <a:ahLst/>
            <a:cxnLst/>
            <a:rect r="r" b="b" t="t" l="l"/>
            <a:pathLst>
              <a:path h="1933575" w="16992600">
                <a:moveTo>
                  <a:pt x="0" y="0"/>
                </a:moveTo>
                <a:lnTo>
                  <a:pt x="16992600" y="0"/>
                </a:lnTo>
                <a:lnTo>
                  <a:pt x="1699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2416" y="6455308"/>
            <a:ext cx="2816352" cy="33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230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INTERACTIVE FILTERS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99632" y="7036769"/>
            <a:ext cx="1060704" cy="34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3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Severity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0032" y="7036769"/>
            <a:ext cx="1225296" cy="34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3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Category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22608" y="7036769"/>
            <a:ext cx="2157984" cy="34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3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Operational Unit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59584" y="7036769"/>
            <a:ext cx="1335024" cy="34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3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Risk Level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7700" y="7924800"/>
            <a:ext cx="16992600" cy="1933575"/>
          </a:xfrm>
          <a:custGeom>
            <a:avLst/>
            <a:gdLst/>
            <a:ahLst/>
            <a:cxnLst/>
            <a:rect r="r" b="b" t="t" l="l"/>
            <a:pathLst>
              <a:path h="1933575" w="16992600">
                <a:moveTo>
                  <a:pt x="0" y="0"/>
                </a:moveTo>
                <a:lnTo>
                  <a:pt x="16992600" y="0"/>
                </a:lnTo>
                <a:lnTo>
                  <a:pt x="1699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36192" y="8618241"/>
            <a:ext cx="2578608" cy="42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b="true" sz="283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IDENTIFY RISKS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572000" y="857250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833872" y="8385905"/>
            <a:ext cx="2871216" cy="91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b="true" sz="2868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PREDICT FUTURE THREATS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144000" y="857250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552176" y="8385905"/>
            <a:ext cx="1993392" cy="91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b="true" sz="2868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ALLOCATE RESOURCES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058775" y="857250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538960" y="8385905"/>
            <a:ext cx="1865376" cy="91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b="true" sz="2868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IMPROVE RESPONSE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2416" y="7036769"/>
            <a:ext cx="603504" cy="34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3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Year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39312" y="7036769"/>
            <a:ext cx="548640" cy="34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3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64624" y="1363952"/>
            <a:ext cx="1280160" cy="21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b="true" sz="152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OVERALL RISK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31168" y="1363952"/>
            <a:ext cx="1938528" cy="21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b="true" sz="152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HIGH-RISK LOCATIONS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37792" y="1411342"/>
            <a:ext cx="1499616" cy="23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7"/>
              </a:lnSpc>
            </a:pPr>
            <a:r>
              <a:rPr lang="en-US" b="true" sz="155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PREDICTED RISK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94592" y="1915540"/>
            <a:ext cx="621792" cy="22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5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Jakarta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67360" y="1915540"/>
            <a:ext cx="365760" cy="22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50">
                <a:solidFill>
                  <a:srgbClr val="FF6D00"/>
                </a:solidFill>
                <a:latin typeface="Barlow"/>
                <a:ea typeface="Barlow"/>
                <a:cs typeface="Barlow"/>
                <a:sym typeface="Barlow"/>
              </a:rPr>
              <a:t>High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94592" y="2223433"/>
            <a:ext cx="475488" cy="21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41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Lagos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67360" y="2213863"/>
            <a:ext cx="365760" cy="22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50">
                <a:solidFill>
                  <a:srgbClr val="FF6D00"/>
                </a:solidFill>
                <a:latin typeface="Barlow"/>
                <a:ea typeface="Barlow"/>
                <a:cs typeface="Barlow"/>
                <a:sym typeface="Barlow"/>
              </a:rPr>
              <a:t>High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94592" y="2567757"/>
            <a:ext cx="475488" cy="20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6"/>
              </a:lnSpc>
            </a:pPr>
            <a:r>
              <a:rPr lang="en-US" sz="1344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Manila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67360" y="2553334"/>
            <a:ext cx="365760" cy="22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50">
                <a:solidFill>
                  <a:srgbClr val="FF6D00"/>
                </a:solidFill>
                <a:latin typeface="Barlow"/>
                <a:ea typeface="Barlow"/>
                <a:cs typeface="Barlow"/>
                <a:sym typeface="Barlow"/>
              </a:rPr>
              <a:t>High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94592" y="2897658"/>
            <a:ext cx="877824" cy="21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7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Mexico City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12496" y="2892805"/>
            <a:ext cx="365760" cy="22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50">
                <a:solidFill>
                  <a:srgbClr val="FF6D00"/>
                </a:solidFill>
                <a:latin typeface="Barlow"/>
                <a:ea typeface="Barlow"/>
                <a:cs typeface="Barlow"/>
                <a:sym typeface="Barlow"/>
              </a:rPr>
              <a:t>High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94592" y="3221452"/>
            <a:ext cx="548640" cy="20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2"/>
              </a:lnSpc>
            </a:pPr>
            <a:r>
              <a:rPr lang="en-US" sz="1273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Mumbai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67360" y="3211702"/>
            <a:ext cx="365760" cy="22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50">
                <a:solidFill>
                  <a:srgbClr val="FF6D00"/>
                </a:solidFill>
                <a:latin typeface="Barlow"/>
                <a:ea typeface="Barlow"/>
                <a:cs typeface="Barlow"/>
                <a:sym typeface="Barlow"/>
              </a:rPr>
              <a:t>High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94592" y="3564969"/>
            <a:ext cx="548640" cy="18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0"/>
              </a:lnSpc>
            </a:pPr>
            <a:r>
              <a:rPr lang="en-US" sz="1238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Istanbul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38176" y="3555309"/>
            <a:ext cx="585216" cy="20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6"/>
              </a:lnSpc>
            </a:pPr>
            <a:r>
              <a:rPr lang="en-US" sz="1344">
                <a:solidFill>
                  <a:srgbClr val="FF6D00"/>
                </a:solidFill>
                <a:latin typeface="Barlow"/>
                <a:ea typeface="Barlow"/>
                <a:cs typeface="Barlow"/>
                <a:sym typeface="Barlow"/>
              </a:rPr>
              <a:t>Medium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94592" y="3893526"/>
            <a:ext cx="621792" cy="16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13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São Paulo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38176" y="3874206"/>
            <a:ext cx="585216" cy="20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6"/>
              </a:lnSpc>
            </a:pPr>
            <a:r>
              <a:rPr lang="en-US" sz="1344">
                <a:solidFill>
                  <a:srgbClr val="FF6D00"/>
                </a:solidFill>
                <a:latin typeface="Barlow"/>
                <a:ea typeface="Barlow"/>
                <a:cs typeface="Barlow"/>
                <a:sym typeface="Barlow"/>
              </a:rPr>
              <a:t>Medium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594592" y="4217902"/>
            <a:ext cx="475488" cy="17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116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Nairobi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838176" y="4203390"/>
            <a:ext cx="585216" cy="20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6"/>
              </a:lnSpc>
            </a:pPr>
            <a:r>
              <a:rPr lang="en-US" sz="1344">
                <a:solidFill>
                  <a:srgbClr val="FF6D00"/>
                </a:solidFill>
                <a:latin typeface="Barlow"/>
                <a:ea typeface="Barlow"/>
                <a:cs typeface="Barlow"/>
                <a:sym typeface="Barlow"/>
              </a:rPr>
              <a:t>Medium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953744" y="4238476"/>
            <a:ext cx="274320" cy="17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116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Low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636240" y="4238431"/>
            <a:ext cx="310896" cy="17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19"/>
              </a:lnSpc>
            </a:pPr>
            <a:r>
              <a:rPr lang="en-US" sz="120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High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3232" y="2326565"/>
            <a:ext cx="8577072" cy="173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00"/>
              </a:lnSpc>
            </a:pPr>
            <a:r>
              <a:rPr lang="en-US" sz="12900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4067175"/>
            <a:ext cx="1752600" cy="438150"/>
          </a:xfrm>
          <a:custGeom>
            <a:avLst/>
            <a:gdLst/>
            <a:ahLst/>
            <a:cxnLst/>
            <a:rect r="r" b="b" t="t" l="l"/>
            <a:pathLst>
              <a:path h="438150" w="1752600">
                <a:moveTo>
                  <a:pt x="0" y="0"/>
                </a:moveTo>
                <a:lnTo>
                  <a:pt x="1752600" y="0"/>
                </a:lnTo>
                <a:lnTo>
                  <a:pt x="1752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8096" y="4693340"/>
            <a:ext cx="7187184" cy="71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5"/>
              </a:lnSpc>
            </a:pPr>
            <a:r>
              <a:rPr lang="en-US" sz="5385" b="true">
                <a:solidFill>
                  <a:srgbClr val="FFBD59"/>
                </a:solidFill>
                <a:latin typeface="Barlow Bold"/>
                <a:ea typeface="Barlow Bold"/>
                <a:cs typeface="Barlow Bold"/>
                <a:sym typeface="Barlow Bold"/>
              </a:rPr>
              <a:t>Questions &amp; Discussion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096" y="5666331"/>
            <a:ext cx="6053328" cy="110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Threat Classification &amp; Predictive Intelligence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8096" y="6976515"/>
            <a:ext cx="1645920" cy="181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2868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Power BI</a:t>
            </a:r>
          </a:p>
          <a:p>
            <a:pPr algn="l">
              <a:lnSpc>
                <a:spcPts val="4876"/>
              </a:lnSpc>
            </a:pPr>
            <a:r>
              <a:rPr lang="en-US" sz="2868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Analytics</a:t>
            </a:r>
          </a:p>
          <a:p>
            <a:pPr algn="l">
              <a:lnSpc>
                <a:spcPts val="4876"/>
              </a:lnSpc>
            </a:pPr>
            <a:r>
              <a:rPr lang="en-US" sz="2868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DAHS5S_VPFA</dc:identifier>
  <dcterms:modified xsi:type="dcterms:W3CDTF">2011-08-01T06:04:30Z</dcterms:modified>
  <cp:revision>1</cp:revision>
  <dc:title>Nishanth T</dc:title>
</cp:coreProperties>
</file>